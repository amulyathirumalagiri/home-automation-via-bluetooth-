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1" userDrawn="1">
          <p15:clr>
            <a:srgbClr val="A4A3A4"/>
          </p15:clr>
        </p15:guide>
        <p15:guide id="2" pos="28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snapToObjects="1" showGuides="1">
      <p:cViewPr varScale="1">
        <p:scale>
          <a:sx n="81" d="100"/>
          <a:sy n="81" d="100"/>
        </p:scale>
        <p:origin x="1526" y="53"/>
      </p:cViewPr>
      <p:guideLst>
        <p:guide orient="horz" pos="2141"/>
        <p:guide pos="285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375053"/>
          </a:xfrm>
        </p:spPr>
        <p:txBody>
          <a:bodyPr/>
          <a:lstStyle/>
          <a:p>
            <a:r>
              <a:rPr lang="en-IN" dirty="0"/>
              <a:t>T</a:t>
            </a:r>
            <a:r>
              <a:rPr lang="en-US" altLang="en-IN" dirty="0"/>
              <a:t>ITLE </a:t>
            </a:r>
          </a:p>
        </p:txBody>
      </p:sp>
      <p:sp>
        <p:nvSpPr>
          <p:cNvPr id="8" name="TextBox 7"/>
          <p:cNvSpPr txBox="1"/>
          <p:nvPr/>
        </p:nvSpPr>
        <p:spPr>
          <a:xfrm>
            <a:off x="725864" y="1838228"/>
            <a:ext cx="9134572" cy="429895"/>
          </a:xfrm>
          <a:prstGeom prst="rect">
            <a:avLst/>
          </a:prstGeom>
          <a:noFill/>
        </p:spPr>
        <p:txBody>
          <a:bodyPr wrap="square" rtlCol="0">
            <a:spAutoFit/>
          </a:bodyPr>
          <a:lstStyle/>
          <a:p>
            <a:pPr marL="342900" indent="-342900">
              <a:buFont typeface="Arial" panose="020B0604020202020204" pitchFamily="34" charset="0"/>
              <a:buChar char="•"/>
            </a:pPr>
            <a:r>
              <a:rPr lang="en-US" sz="2200" dirty="0"/>
              <a:t>Project Name: Home Automation via Bluetooth using ESP32</a:t>
            </a:r>
            <a:endParaRPr lang="en-IN" sz="2200" dirty="0"/>
          </a:p>
        </p:txBody>
      </p:sp>
      <p:sp>
        <p:nvSpPr>
          <p:cNvPr id="9" name="TextBox 8"/>
          <p:cNvSpPr txBox="1"/>
          <p:nvPr/>
        </p:nvSpPr>
        <p:spPr>
          <a:xfrm>
            <a:off x="725865" y="2457654"/>
            <a:ext cx="7960936" cy="429895"/>
          </a:xfrm>
          <a:prstGeom prst="rect">
            <a:avLst/>
          </a:prstGeom>
          <a:noFill/>
        </p:spPr>
        <p:txBody>
          <a:bodyPr wrap="square" rtlCol="0">
            <a:spAutoFit/>
          </a:bodyPr>
          <a:lstStyle/>
          <a:p>
            <a:pPr marL="342900" indent="-342900">
              <a:buFont typeface="Arial" panose="020B0604020202020204" pitchFamily="34" charset="0"/>
              <a:buChar char="•"/>
            </a:pPr>
            <a:r>
              <a:rPr lang="en-US" sz="2200" dirty="0"/>
              <a:t>Name: </a:t>
            </a:r>
            <a:r>
              <a:rPr lang="en-US" sz="2200" dirty="0" err="1"/>
              <a:t>T.Amulya</a:t>
            </a:r>
            <a:endParaRPr lang="en-IN" sz="2200" dirty="0"/>
          </a:p>
        </p:txBody>
      </p:sp>
      <p:sp>
        <p:nvSpPr>
          <p:cNvPr id="10" name="TextBox 9"/>
          <p:cNvSpPr txBox="1"/>
          <p:nvPr/>
        </p:nvSpPr>
        <p:spPr>
          <a:xfrm>
            <a:off x="725865" y="3077080"/>
            <a:ext cx="6325384" cy="429895"/>
          </a:xfrm>
          <a:prstGeom prst="rect">
            <a:avLst/>
          </a:prstGeom>
          <a:noFill/>
        </p:spPr>
        <p:txBody>
          <a:bodyPr wrap="square" rtlCol="0">
            <a:spAutoFit/>
          </a:bodyPr>
          <a:lstStyle/>
          <a:p>
            <a:pPr marL="342900" indent="-342900">
              <a:buFont typeface="Arial" panose="020B0604020202020204" pitchFamily="34" charset="0"/>
              <a:buChar char="•"/>
            </a:pPr>
            <a:r>
              <a:rPr lang="en-US" sz="2200" dirty="0"/>
              <a:t>Intern ID: CITS3856</a:t>
            </a:r>
            <a:endParaRPr lang="en-IN" sz="2200" dirty="0"/>
          </a:p>
        </p:txBody>
      </p:sp>
      <p:sp>
        <p:nvSpPr>
          <p:cNvPr id="11" name="TextBox 10"/>
          <p:cNvSpPr txBox="1"/>
          <p:nvPr/>
        </p:nvSpPr>
        <p:spPr>
          <a:xfrm rot="10800000" flipV="1">
            <a:off x="725865" y="3696506"/>
            <a:ext cx="5995442" cy="430887"/>
          </a:xfrm>
          <a:prstGeom prst="rect">
            <a:avLst/>
          </a:prstGeom>
          <a:noFill/>
        </p:spPr>
        <p:txBody>
          <a:bodyPr wrap="square" rtlCol="0">
            <a:spAutoFit/>
          </a:bodyPr>
          <a:lstStyle/>
          <a:p>
            <a:pPr marL="342900" indent="-342900">
              <a:buFont typeface="Arial" panose="020B0604020202020204" pitchFamily="34" charset="0"/>
              <a:buChar char="•"/>
            </a:pPr>
            <a:r>
              <a:rPr lang="en-US" sz="2200" dirty="0"/>
              <a:t>Duration: 4 weeks</a:t>
            </a:r>
            <a:endParaRPr lang="en-IN"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a:t>
            </a:r>
            <a:r>
              <a:rPr lang="en-US" dirty="0"/>
              <a:t>BSTRACT</a:t>
            </a:r>
          </a:p>
        </p:txBody>
      </p:sp>
      <p:sp>
        <p:nvSpPr>
          <p:cNvPr id="5" name="TextBox 4"/>
          <p:cNvSpPr txBox="1"/>
          <p:nvPr/>
        </p:nvSpPr>
        <p:spPr>
          <a:xfrm flipH="1">
            <a:off x="283210" y="1527175"/>
            <a:ext cx="8691245" cy="3902710"/>
          </a:xfrm>
          <a:prstGeom prst="rect">
            <a:avLst/>
          </a:prstGeom>
          <a:noFill/>
        </p:spPr>
        <p:txBody>
          <a:bodyPr wrap="square" rtlCol="0">
            <a:noAutofit/>
          </a:bodyPr>
          <a:lstStyle/>
          <a:p>
            <a:r>
              <a:rPr lang="en-US" sz="2000" dirty="0"/>
              <a:t>The </a:t>
            </a:r>
            <a:r>
              <a:rPr lang="en-US" altLang="en-US" sz="2000" b="1" dirty="0"/>
              <a:t>Home Automation via Bluetooth using ESP32</a:t>
            </a:r>
            <a:r>
              <a:rPr lang="en-US" altLang="en-US" sz="2000" dirty="0"/>
              <a:t> is an embedded systems project that enables wireless control of household appliances through Bluetooth communication. In this project, LEDs are used to represent home appliances such as room lights, bed lamps, fans, and power sockets. The ESP32 receives commands from the user and controls the connected devices accordingly. Since Wokwi does not support Bluetooth simulation directly, the Serial Monitor is used as a virtual Bluetooth terminal. This project demonstrates the concept of wireless home automation and the application of embedded systems in smart homes.</a:t>
            </a:r>
            <a:r>
              <a:rPr lang="en-US" sz="2000" dirty="0"/>
              <a:t> The user can control electrical devices such as LEDs using a smartphone through Bluetooth commands. The system provides a simple, wireless, and low-cost solution for smart home applications.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643613"/>
          </a:xfrm>
        </p:spPr>
        <p:txBody>
          <a:bodyPr/>
          <a:lstStyle/>
          <a:p>
            <a:r>
              <a:rPr dirty="0"/>
              <a:t>I</a:t>
            </a:r>
            <a:r>
              <a:rPr lang="en-US" dirty="0"/>
              <a:t>NTRODUCTION</a:t>
            </a:r>
          </a:p>
        </p:txBody>
      </p:sp>
      <p:sp>
        <p:nvSpPr>
          <p:cNvPr id="4" name="TextBox 3"/>
          <p:cNvSpPr txBox="1"/>
          <p:nvPr/>
        </p:nvSpPr>
        <p:spPr>
          <a:xfrm>
            <a:off x="457200" y="1709531"/>
            <a:ext cx="8229600" cy="2584450"/>
          </a:xfrm>
          <a:prstGeom prst="rect">
            <a:avLst/>
          </a:prstGeom>
          <a:noFill/>
        </p:spPr>
        <p:txBody>
          <a:bodyPr wrap="square" rtlCol="0">
            <a:spAutoFit/>
          </a:bodyPr>
          <a:lstStyle/>
          <a:p>
            <a:r>
              <a:rPr lang="en-US" altLang="en-US" dirty="0" err="1"/>
              <a:t>Home automation is one of the most important applications of embedded systems and IoT technology. It allows users to monitor and control electrical appliances remotely, reducing human effort and increasing convenience. Bluetooth technology provides a low-cost and energy-efficient method for wireless communication between devices. The ESP32 microcontroller contains built-in Bluetooth and Wi-Fi capabilities, making it suitable for smart home applications. This project demonstrates how Bluetooth communication can be used to control home appliances represented by LEDs.</a:t>
            </a:r>
            <a:r>
              <a:rPr lang="en-US" dirty="0" err="1"/>
              <a:t> Home automation enables users to control household devices remotely. This improves convenience and energy efficiency.</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a:t>
            </a:r>
            <a:r>
              <a:rPr lang="en-US" dirty="0"/>
              <a:t>BJECTIVES</a:t>
            </a:r>
          </a:p>
        </p:txBody>
      </p:sp>
      <p:sp>
        <p:nvSpPr>
          <p:cNvPr id="3" name="Content Placeholder 2"/>
          <p:cNvSpPr>
            <a:spLocks noGrp="1"/>
          </p:cNvSpPr>
          <p:nvPr>
            <p:ph idx="1"/>
          </p:nvPr>
        </p:nvSpPr>
        <p:spPr>
          <a:xfrm>
            <a:off x="457200" y="1600200"/>
            <a:ext cx="8229600" cy="3389243"/>
          </a:xfrm>
        </p:spPr>
        <p:txBody>
          <a:bodyPr>
            <a:normAutofit lnSpcReduction="20000"/>
          </a:bodyPr>
          <a:lstStyle/>
          <a:p>
            <a:pPr>
              <a:buFont typeface="Arial" panose="020B0604020202020204" pitchFamily="34" charset="0"/>
              <a:buChar char="•"/>
            </a:pPr>
            <a:r>
              <a:rPr lang="en-US" altLang="en-US" sz="2000" dirty="0"/>
              <a:t>To understand the concept of home automation.</a:t>
            </a:r>
          </a:p>
          <a:p>
            <a:pPr>
              <a:buFont typeface="Arial" panose="020B0604020202020204" pitchFamily="34" charset="0"/>
              <a:buChar char="•"/>
            </a:pPr>
            <a:r>
              <a:rPr lang="en-US" altLang="en-US" sz="2000" dirty="0"/>
              <a:t>To develop a Bluetooth-controlled appliance system using ESP32.</a:t>
            </a:r>
          </a:p>
          <a:p>
            <a:pPr>
              <a:buFont typeface="Arial" panose="020B0604020202020204" pitchFamily="34" charset="0"/>
              <a:buChar char="•"/>
            </a:pPr>
            <a:r>
              <a:rPr lang="en-US" altLang="en-US" sz="2000" dirty="0"/>
              <a:t>To simulate wireless communication using the Serial Monitor.</a:t>
            </a:r>
          </a:p>
          <a:p>
            <a:pPr>
              <a:buFont typeface="Arial" panose="020B0604020202020204" pitchFamily="34" charset="0"/>
              <a:buChar char="•"/>
            </a:pPr>
            <a:r>
              <a:rPr lang="en-US" altLang="en-US" sz="2000" dirty="0"/>
              <a:t>To control multiple devices through command-based communication.</a:t>
            </a:r>
          </a:p>
          <a:p>
            <a:pPr>
              <a:buFont typeface="Arial" panose="020B0604020202020204" pitchFamily="34" charset="0"/>
              <a:buChar char="•"/>
            </a:pPr>
            <a:r>
              <a:rPr lang="en-US" altLang="en-US" sz="2000" dirty="0"/>
              <a:t>To gain practical knowledge of embedded system programming.</a:t>
            </a:r>
          </a:p>
          <a:p>
            <a:pPr>
              <a:buFont typeface="Arial" panose="020B0604020202020204" pitchFamily="34" charset="0"/>
              <a:buChar char="•"/>
            </a:pPr>
            <a:r>
              <a:rPr lang="en-US" altLang="en-US" sz="2000" dirty="0"/>
              <a:t>To understand embedded system applications.</a:t>
            </a:r>
          </a:p>
          <a:p>
            <a:pPr>
              <a:buFont typeface="Arial" panose="020B0604020202020204" pitchFamily="34" charset="0"/>
              <a:buChar char="•"/>
            </a:pPr>
            <a:r>
              <a:rPr lang="en-US" altLang="en-US" sz="2000" dirty="0"/>
              <a:t>To Provide a simple and low-cost solution.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862275"/>
          </a:xfrm>
        </p:spPr>
        <p:txBody>
          <a:bodyPr/>
          <a:lstStyle/>
          <a:p>
            <a:r>
              <a:rPr lang="en-US" dirty="0"/>
              <a:t>COMPONENTS USED</a:t>
            </a:r>
            <a:endParaRPr dirty="0"/>
          </a:p>
        </p:txBody>
      </p:sp>
      <p:sp>
        <p:nvSpPr>
          <p:cNvPr id="8" name="Rectangle 3"/>
          <p:cNvSpPr>
            <a:spLocks noChangeArrowheads="1"/>
          </p:cNvSpPr>
          <p:nvPr/>
        </p:nvSpPr>
        <p:spPr bwMode="auto">
          <a:xfrm rot="10800000" flipV="1">
            <a:off x="268355" y="1784158"/>
            <a:ext cx="6679096" cy="2861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Arial" panose="020B0604020202020204" pitchFamily="34" charset="0"/>
              </a:rPr>
              <a:t>Hardware Components: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ESP32 Development Board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LED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220Ω Resistor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Jumper Wires</a:t>
            </a:r>
          </a:p>
          <a:p>
            <a:pPr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en-US" sz="1800" b="1" i="0" u="none" strike="noStrike" cap="none" normalizeH="0" baseline="0" dirty="0">
                <a:ln>
                  <a:noFill/>
                </a:ln>
                <a:solidFill>
                  <a:schemeClr val="tx1"/>
                </a:solidFill>
                <a:effectLst/>
                <a:latin typeface="Arial" panose="020B0604020202020204" pitchFamily="34" charset="0"/>
              </a:rPr>
              <a:t>Software Components: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Arduino IDE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Wokwi Simulator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Bluetooth Terminal App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a:t>
            </a:r>
            <a:r>
              <a:rPr lang="en-US" dirty="0"/>
              <a:t>ETHODOLOGY</a:t>
            </a:r>
          </a:p>
        </p:txBody>
      </p:sp>
      <p:sp>
        <p:nvSpPr>
          <p:cNvPr id="4" name="Rectangle 1"/>
          <p:cNvSpPr>
            <a:spLocks noGrp="1" noChangeArrowheads="1"/>
          </p:cNvSpPr>
          <p:nvPr>
            <p:ph idx="1"/>
          </p:nvPr>
        </p:nvSpPr>
        <p:spPr bwMode="auto">
          <a:xfrm>
            <a:off x="109220" y="1488440"/>
            <a:ext cx="8895715" cy="3267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R="0" lvl="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Initialize ESP32 and Bluetooth communication.</a:t>
            </a:r>
          </a:p>
          <a:p>
            <a:pPr marR="0" lvl="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Pair the smartphone with the ESP32 device.</a:t>
            </a:r>
          </a:p>
          <a:p>
            <a:pPr marR="0" lvl="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Send commands through a Bluetooth apllications.</a:t>
            </a:r>
          </a:p>
          <a:p>
            <a:pPr marR="0" lvl="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ESP32 receives the commands and processes them.</a:t>
            </a:r>
          </a:p>
          <a:p>
            <a:pPr marR="0" lvl="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The LED turns ON when command ‘1’ is received.</a:t>
            </a:r>
          </a:p>
          <a:p>
            <a:pPr marR="0" lvl="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The LED turns OFF when command ‘0’ is recieved.</a:t>
            </a:r>
          </a:p>
          <a:p>
            <a:pPr marR="0" lvl="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Thw system provides wireless control of home appliances.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9745" y="149225"/>
            <a:ext cx="6917055" cy="1268730"/>
          </a:xfrm>
        </p:spPr>
        <p:txBody>
          <a:bodyPr/>
          <a:lstStyle/>
          <a:p>
            <a:pPr algn="l"/>
            <a:r>
              <a:rPr lang="en-US" altLang="en-IN" dirty="0"/>
              <a:t>EXPECTED </a:t>
            </a:r>
            <a:r>
              <a:rPr lang="en-IN" dirty="0"/>
              <a:t>R</a:t>
            </a:r>
            <a:r>
              <a:rPr lang="en-US" altLang="en-IN" dirty="0"/>
              <a:t>ESULT</a:t>
            </a:r>
          </a:p>
        </p:txBody>
      </p:sp>
      <p:sp>
        <p:nvSpPr>
          <p:cNvPr id="3" name="Content Placeholder 2"/>
          <p:cNvSpPr>
            <a:spLocks noGrp="1"/>
          </p:cNvSpPr>
          <p:nvPr>
            <p:ph idx="1"/>
          </p:nvPr>
        </p:nvSpPr>
        <p:spPr>
          <a:xfrm>
            <a:off x="457200" y="1417638"/>
            <a:ext cx="7941365" cy="1454771"/>
          </a:xfrm>
        </p:spPr>
        <p:txBody>
          <a:bodyPr>
            <a:normAutofit/>
          </a:bodyPr>
          <a:lstStyle/>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sz="2000" dirty="0"/>
          </a:p>
        </p:txBody>
      </p:sp>
      <p:sp>
        <p:nvSpPr>
          <p:cNvPr id="6" name="TextBox 5"/>
          <p:cNvSpPr txBox="1"/>
          <p:nvPr/>
        </p:nvSpPr>
        <p:spPr>
          <a:xfrm>
            <a:off x="69575" y="1341783"/>
            <a:ext cx="8766312" cy="922020"/>
          </a:xfrm>
          <a:prstGeom prst="rect">
            <a:avLst/>
          </a:prstGeom>
          <a:noFill/>
        </p:spPr>
        <p:txBody>
          <a:bodyPr wrap="square" rtlCol="0">
            <a:spAutoFit/>
          </a:bodyPr>
          <a:lstStyle/>
          <a:p>
            <a:r>
              <a:rPr lang="en-US" dirty="0"/>
              <a:t> </a:t>
            </a:r>
            <a:r>
              <a:rPr lang="en-US" altLang="en-US" dirty="0"/>
              <a:t>The system successfully controls four appliances using command-based communication. Each appliance responds correctly to the corresponding command. The Serial Monitor displays the appliance status, and the LEDs indicate the output state in real time.</a:t>
            </a:r>
          </a:p>
        </p:txBody>
      </p:sp>
      <p:pic>
        <p:nvPicPr>
          <p:cNvPr id="7" name="Picture 6" descr="WhatsApp Image 2026-06-24 at 2.35.04 PM"/>
          <p:cNvPicPr>
            <a:picLocks noChangeAspect="1"/>
          </p:cNvPicPr>
          <p:nvPr/>
        </p:nvPicPr>
        <p:blipFill>
          <a:blip r:embed="rId2"/>
          <a:stretch>
            <a:fillRect/>
          </a:stretch>
        </p:blipFill>
        <p:spPr>
          <a:xfrm>
            <a:off x="1412240" y="2383155"/>
            <a:ext cx="6213475" cy="43605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564101"/>
          </a:xfrm>
        </p:spPr>
        <p:txBody>
          <a:bodyPr/>
          <a:lstStyle/>
          <a:p>
            <a:r>
              <a:rPr lang="en-IN" dirty="0"/>
              <a:t>A</a:t>
            </a:r>
            <a:r>
              <a:rPr lang="en-US" altLang="en-IN" dirty="0"/>
              <a:t>DVANTAGES</a:t>
            </a:r>
          </a:p>
        </p:txBody>
      </p:sp>
      <p:sp>
        <p:nvSpPr>
          <p:cNvPr id="4" name="Rectangle 1"/>
          <p:cNvSpPr>
            <a:spLocks noGrp="1" noChangeArrowheads="1"/>
          </p:cNvSpPr>
          <p:nvPr>
            <p:ph idx="1"/>
          </p:nvPr>
        </p:nvSpPr>
        <p:spPr bwMode="auto">
          <a:xfrm>
            <a:off x="457200" y="3524625"/>
            <a:ext cx="6480313"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8" name="Rectangle 3"/>
          <p:cNvSpPr>
            <a:spLocks noChangeArrowheads="1"/>
          </p:cNvSpPr>
          <p:nvPr/>
        </p:nvSpPr>
        <p:spPr bwMode="auto">
          <a:xfrm rot="10800000" flipV="1">
            <a:off x="238539" y="1914080"/>
            <a:ext cx="8905461" cy="1753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Wireless Operation.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Easy to Implement.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Low cost.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Energy efficient.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Compact and reliable.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Expandable for IoT Applications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748" y="673285"/>
            <a:ext cx="8229600" cy="1143000"/>
          </a:xfrm>
        </p:spPr>
        <p:txBody>
          <a:bodyPr/>
          <a:lstStyle/>
          <a:p>
            <a:r>
              <a:rPr lang="en-IN" dirty="0"/>
              <a:t>A</a:t>
            </a:r>
            <a:r>
              <a:rPr lang="en-US" altLang="en-IN" dirty="0"/>
              <a:t>PPLICATIONS</a:t>
            </a:r>
          </a:p>
        </p:txBody>
      </p:sp>
      <p:sp>
        <p:nvSpPr>
          <p:cNvPr id="3" name="Content Placeholder 2"/>
          <p:cNvSpPr>
            <a:spLocks noGrp="1"/>
          </p:cNvSpPr>
          <p:nvPr>
            <p:ph idx="1"/>
          </p:nvPr>
        </p:nvSpPr>
        <p:spPr/>
        <p:txBody>
          <a:bodyPr>
            <a:normAutofit/>
          </a:bodyPr>
          <a:lstStyle/>
          <a:p>
            <a:pPr marL="0" indent="0">
              <a:buNone/>
            </a:pPr>
            <a:endParaRPr lang="en-US" sz="2000" dirty="0"/>
          </a:p>
          <a:p>
            <a:pPr marL="0" indent="0">
              <a:buNone/>
            </a:pPr>
            <a:endParaRPr sz="2000" dirty="0"/>
          </a:p>
        </p:txBody>
      </p:sp>
      <p:sp>
        <p:nvSpPr>
          <p:cNvPr id="4" name="TextBox 3"/>
          <p:cNvSpPr txBox="1"/>
          <p:nvPr/>
        </p:nvSpPr>
        <p:spPr>
          <a:xfrm>
            <a:off x="457200" y="1985010"/>
            <a:ext cx="5761990" cy="2553335"/>
          </a:xfrm>
          <a:prstGeom prst="rect">
            <a:avLst/>
          </a:prstGeom>
          <a:noFill/>
        </p:spPr>
        <p:txBody>
          <a:bodyPr wrap="square" rtlCol="0">
            <a:spAutoFit/>
          </a:bodyPr>
          <a:lstStyle/>
          <a:p>
            <a:pPr marL="342900" indent="-342900">
              <a:buFont typeface="Arial" panose="020B0604020202020204" pitchFamily="34" charset="0"/>
              <a:buChar char="•"/>
            </a:pPr>
            <a:r>
              <a:rPr lang="en-US" altLang="en-IN" sz="2000" dirty="0"/>
              <a:t>Smart Homes.</a:t>
            </a:r>
          </a:p>
          <a:p>
            <a:pPr marL="342900" indent="-342900">
              <a:buFont typeface="Arial" panose="020B0604020202020204" pitchFamily="34" charset="0"/>
              <a:buChar char="•"/>
            </a:pPr>
            <a:r>
              <a:rPr lang="en-US" altLang="en-IN" sz="2000" dirty="0"/>
              <a:t>Lighting Control systems.</a:t>
            </a:r>
          </a:p>
          <a:p>
            <a:pPr marL="342900" indent="-342900">
              <a:buFont typeface="Arial" panose="020B0604020202020204" pitchFamily="34" charset="0"/>
              <a:buChar char="•"/>
            </a:pPr>
            <a:r>
              <a:rPr lang="en-US" altLang="en-IN" sz="2000" dirty="0"/>
              <a:t>Fan and appliance control.</a:t>
            </a:r>
          </a:p>
          <a:p>
            <a:pPr marL="342900" indent="-342900">
              <a:buFont typeface="Arial" panose="020B0604020202020204" pitchFamily="34" charset="0"/>
              <a:buChar char="•"/>
            </a:pPr>
            <a:r>
              <a:rPr lang="en-US" altLang="en-IN" sz="2000" dirty="0"/>
              <a:t>Industrial automation.</a:t>
            </a:r>
          </a:p>
          <a:p>
            <a:pPr marL="342900" indent="-342900">
              <a:buFont typeface="Arial" panose="020B0604020202020204" pitchFamily="34" charset="0"/>
              <a:buChar char="•"/>
            </a:pPr>
            <a:r>
              <a:rPr lang="en-US" altLang="en-IN" sz="2000" dirty="0"/>
              <a:t>Security system.</a:t>
            </a:r>
          </a:p>
          <a:p>
            <a:pPr marL="342900" indent="-342900">
              <a:buFont typeface="Arial" panose="020B0604020202020204" pitchFamily="34" charset="0"/>
              <a:buChar char="•"/>
            </a:pPr>
            <a:r>
              <a:rPr lang="en-US" altLang="en-IN" sz="2000" dirty="0"/>
              <a:t>IoT based applications.</a:t>
            </a:r>
          </a:p>
          <a:p>
            <a:pPr marL="342900" indent="-342900">
              <a:buFont typeface="Arial" panose="020B0604020202020204" pitchFamily="34" charset="0"/>
              <a:buChar char="•"/>
            </a:pPr>
            <a:r>
              <a:rPr lang="en-US" altLang="en-IN" sz="2000" dirty="0"/>
              <a:t>Educational Embedded System Projects</a:t>
            </a:r>
          </a:p>
          <a:p>
            <a:pPr marL="342900" indent="-342900">
              <a:buFont typeface="Arial" panose="020B0604020202020204" pitchFamily="34" charset="0"/>
              <a:buChar char="•"/>
            </a:pPr>
            <a:r>
              <a:rPr lang="en-US" altLang="en-IN" sz="2000" dirty="0"/>
              <a:t>Wireless Device Management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tLang="en-IN" dirty="0"/>
              <a:t>CONCLUSION</a:t>
            </a:r>
          </a:p>
        </p:txBody>
      </p:sp>
      <p:sp>
        <p:nvSpPr>
          <p:cNvPr id="6" name="Rectangle 1"/>
          <p:cNvSpPr>
            <a:spLocks noGrp="1" noChangeArrowheads="1"/>
          </p:cNvSpPr>
          <p:nvPr>
            <p:ph idx="1"/>
          </p:nvPr>
        </p:nvSpPr>
        <p:spPr bwMode="auto">
          <a:xfrm>
            <a:off x="83128" y="2383817"/>
            <a:ext cx="8905008" cy="2030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Arial" panose="020B0604020202020204" pitchFamily="34" charset="0"/>
              </a:rPr>
              <a:t>The Home Automation via Bluetooth using ESP32</a:t>
            </a:r>
            <a:r>
              <a:rPr kumimoji="0" lang="en-US" altLang="en-US" sz="1800" b="0" i="0" u="none" strike="noStrike" cap="none" normalizeH="0" baseline="0" dirty="0">
                <a:ln>
                  <a:noFill/>
                </a:ln>
                <a:solidFill>
                  <a:schemeClr val="tx1"/>
                </a:solidFill>
                <a:effectLst/>
                <a:latin typeface="Arial" panose="020B0604020202020204" pitchFamily="34" charset="0"/>
              </a:rPr>
              <a:t> project successfully demonstrates wireless appliance control using embedded system technology. The system provides a simple and cost-effective automation solution and serves as a foundation for advanced smart home and IoT applications. It Provides an efficient way to control appliances remotely and can be extended for IoT based automation systems in the future.</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579</Words>
  <Application>Microsoft Office PowerPoint</Application>
  <PresentationFormat>On-screen Show (4:3)</PresentationFormat>
  <Paragraphs>101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Wingdings</vt:lpstr>
      <vt:lpstr>Office Theme</vt:lpstr>
      <vt:lpstr>TITLE </vt:lpstr>
      <vt:lpstr>ABSTRACT</vt:lpstr>
      <vt:lpstr>INTRODUCTION</vt:lpstr>
      <vt:lpstr>OBJECTIVES</vt:lpstr>
      <vt:lpstr>COMPONENTS USED</vt:lpstr>
      <vt:lpstr>METHODOLOGY</vt:lpstr>
      <vt:lpstr>EXPECTED RESULT</vt:lpstr>
      <vt:lpstr>ADVANTAGES</vt:lpstr>
      <vt:lpstr>APPLICATIONS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vandana avvi</dc:creator>
  <dc:description>generated using python-pptx</dc:description>
  <cp:lastModifiedBy>vandana avvi</cp:lastModifiedBy>
  <cp:revision>4</cp:revision>
  <dcterms:created xsi:type="dcterms:W3CDTF">2013-01-27T09:14:00Z</dcterms:created>
  <dcterms:modified xsi:type="dcterms:W3CDTF">2026-06-25T11:04:10Z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60AE5ED9A2AE48C783150D3888792C91_13</vt:lpwstr>
  </property>
</Properties>
</file>